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766560" y="-1371600"/>
            <a:ext cx="7772400" cy="7772400"/>
          </a:xfrm>
          <a:prstGeom prst="ellipse">
            <a:avLst/>
          </a:prstGeom>
          <a:solidFill>
            <a:srgbClr val="2EE6C5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206240"/>
            <a:ext cx="4572000" cy="4572000"/>
          </a:xfrm>
          <a:prstGeom prst="ellipse">
            <a:avLst/>
          </a:prstGeom>
          <a:solidFill>
            <a:srgbClr val="5CC8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6400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>
            <a:outerShdw blurRad="228600" dist="50800" dir="5400000" algn="t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reeform 5"/>
          <p:cNvSpPr/>
          <p:nvPr/>
        </p:nvSpPr>
        <p:spPr>
          <a:xfrm>
            <a:off x="628009" y="810158"/>
            <a:ext cx="408189" cy="272125"/>
          </a:xfrm>
          <a:custGeom>
            <a:avLst/>
            <a:gdLst/>
            <a:ahLst/>
            <a:cxnLst/>
            <a:rect l="l" t="t" r="r" b="b"/>
            <a:pathLst>
              <a:path w="408189" h="272125">
                <a:moveTo>
                  <a:pt x="0" y="141732"/>
                </a:moveTo>
                <a:lnTo>
                  <a:pt x="90709" y="141732"/>
                </a:lnTo>
                <a:lnTo>
                  <a:pt x="147402" y="0"/>
                </a:lnTo>
                <a:lnTo>
                  <a:pt x="215433" y="272125"/>
                </a:lnTo>
                <a:lnTo>
                  <a:pt x="272126" y="68031"/>
                </a:lnTo>
                <a:lnTo>
                  <a:pt x="317480" y="141732"/>
                </a:lnTo>
                <a:lnTo>
                  <a:pt x="408189" y="141732"/>
                </a:lnTo>
              </a:path>
            </a:pathLst>
          </a:custGeom>
          <a:noFill/>
          <a:ln w="28575">
            <a:solidFill>
              <a:srgbClr val="F2F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6583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914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A9C3C8"/>
                </a:solidFill>
                <a:latin typeface="Helvetica Neue"/>
              </a:rPr>
              <a:t>Health surge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4780649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2E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EE6C5"/>
                </a:solidFill>
                <a:latin typeface="Helvetica Neue"/>
              </a:rPr>
              <a:t>CODE FOR COMMUNITY  ·  TRACK 03  ·  SMART HEALTH &amp; SUPPLY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6035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1">
                <a:solidFill>
                  <a:srgbClr val="F2FBFA"/>
                </a:solidFill>
                <a:latin typeface="Helvetica Neue"/>
              </a:rPr>
              <a:t>Predict the surge.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1">
                <a:solidFill>
                  <a:srgbClr val="2EE6C5"/>
                </a:solidFill>
                <a:latin typeface="Helvetica Neue"/>
              </a:rPr>
              <a:t>Move the medicine.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600" b="1">
                <a:solidFill>
                  <a:srgbClr val="F2FBFA"/>
                </a:solidFill>
                <a:latin typeface="Helvetica Neue"/>
              </a:rPr>
              <a:t>Before the shelf is empty.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Predictive Unified Health Surge Engine — an AI command centre for India's Primary Health Centres that forecasts district outbreaks, plans the stock transfer, and alerts the CMO on WhatsApp in their own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57800"/>
            <a:ext cx="45720" cy="82296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2486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2FBFA"/>
                </a:solidFill>
                <a:latin typeface="Helvetica Neue"/>
              </a:rPr>
              <a:t>AICoders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34009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00" b="1">
                <a:solidFill>
                  <a:srgbClr val="6C8A91"/>
                </a:solidFill>
                <a:latin typeface="Helvetica Neue"/>
              </a:rPr>
              <a:t>Live  </a:t>
            </a:r>
            <a:r>
              <a:rPr sz="1100" b="0">
                <a:solidFill>
                  <a:srgbClr val="2EE6C5"/>
                </a:solidFill>
                <a:latin typeface="Helvetica Neue"/>
              </a:rPr>
              <a:t>pulse-web-ahao.onrender.com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00" b="1">
                <a:solidFill>
                  <a:srgbClr val="6C8A91"/>
                </a:solidFill>
                <a:latin typeface="Helvetica Neue"/>
              </a:rPr>
              <a:t>Code  </a:t>
            </a:r>
            <a:r>
              <a:rPr sz="1100" b="0">
                <a:solidFill>
                  <a:srgbClr val="A9C3C8"/>
                </a:solidFill>
                <a:latin typeface="Helvetica Neue"/>
              </a:rPr>
              <a:t>github.com/parthgoyal15/PULSE</a:t>
            </a:r>
          </a:p>
        </p:txBody>
      </p:sp>
      <p:pic>
        <p:nvPicPr>
          <p:cNvPr id="16" name="Picture 15" descr="crop_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4846320" cy="2423160"/>
          </a:xfrm>
          <a:prstGeom prst="roundRect">
            <a:avLst>
              <a:gd name="adj" fmla="val 3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  <p:pic>
        <p:nvPicPr>
          <p:cNvPr id="17" name="Picture 16" descr="crop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3154680"/>
            <a:ext cx="1420826" cy="3246120"/>
          </a:xfrm>
          <a:prstGeom prst="roundRect">
            <a:avLst>
              <a:gd name="adj" fmla="val 5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6492240" y="4251960"/>
            <a:ext cx="1459714" cy="310896"/>
          </a:xfrm>
          <a:prstGeom prst="roundRect">
            <a:avLst>
              <a:gd name="adj" fmla="val 50000"/>
            </a:avLst>
          </a:prstGeom>
          <a:solidFill>
            <a:srgbClr val="051016"/>
          </a:solidFill>
          <a:ln w="9525">
            <a:solidFill>
              <a:srgbClr val="2E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EE6C5"/>
                </a:solidFill>
                <a:latin typeface="Helvetica Neue"/>
              </a:rPr>
              <a:t>● LIVE ON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02 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The shelf empties before the alert arrives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Rural India's PHCs usually learn about a surge when patients are already being turned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77240" y="2148840"/>
            <a:ext cx="822960" cy="54864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2EE6C5"/>
                </a:solidFill>
                <a:latin typeface="Helvetica Neue"/>
              </a:rPr>
              <a:t>~25,000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Primary Health Centres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The first — and often only — point of care for rural India.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488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26280" y="2148840"/>
            <a:ext cx="822960" cy="54864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2468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5CC8FF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signals, 4 silos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Rainfall, symptom searches, IDSP case counts and PHC stock never meet on one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48840"/>
            <a:ext cx="3566160" cy="22402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275320" y="2148840"/>
            <a:ext cx="822960" cy="5486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B547"/>
                </a:solidFill>
                <a:latin typeface="Helvetica Neue"/>
              </a:rPr>
              <a:t>Next door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72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is where the surplus sits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A neighbouring district often holds the ORS or antimalarials the hotspot is missing.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17720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5C72"/>
                </a:solidFill>
                <a:latin typeface="Helvetica Neue"/>
              </a:rPr>
              <a:t>WHAT BREAKS 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184648"/>
            <a:ext cx="24078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Late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24078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Stock-outs are found at the counter, not forecast.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03" y="5184648"/>
            <a:ext cx="24078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Stranded surplus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5486400"/>
            <a:ext cx="24078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No quick way to match a donor district to a hotspot.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5184648"/>
            <a:ext cx="24078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English-first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5847" y="5486400"/>
            <a:ext cx="24078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CMOs and ASHAs live on WhatsApp, in Marathi, Odia, Hindi.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291" y="5184648"/>
            <a:ext cx="24078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Silent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291" y="5486400"/>
            <a:ext cx="24078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Dispensing far above footfall looks like a busy OPD.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03  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PULSE closes the loop: signal to shelf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Five AI agents turn scattered signals into a medicine transfer a CMO can approve in one tap.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03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2014057" cy="25146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2014057" cy="64008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77240" y="2468880"/>
            <a:ext cx="384048" cy="384048"/>
          </a:xfrm>
          <a:prstGeom prst="ellipse">
            <a:avLst/>
          </a:prstGeom>
          <a:solidFill>
            <a:srgbClr val="5CC8FF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51016"/>
                </a:solidFill>
                <a:latin typeface="Helvetica Neu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160257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Sense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60257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Rainfall, symptom search trends, IDSP-style case counts, PHC stock</a:t>
            </a:r>
          </a:p>
        </p:txBody>
      </p:sp>
      <p:sp>
        <p:nvSpPr>
          <p:cNvPr id="16" name="Chevron 15"/>
          <p:cNvSpPr/>
          <p:nvPr/>
        </p:nvSpPr>
        <p:spPr>
          <a:xfrm>
            <a:off x="2626705" y="3278124"/>
            <a:ext cx="146304" cy="256032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8729" y="2148840"/>
            <a:ext cx="2014057" cy="25146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18729" y="2148840"/>
            <a:ext cx="2014057" cy="64008"/>
          </a:xfrm>
          <a:prstGeom prst="rect">
            <a:avLst/>
          </a:prstGeom>
          <a:solidFill>
            <a:srgbClr val="FF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047329" y="2468880"/>
            <a:ext cx="384048" cy="384048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51016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7329" y="3017520"/>
            <a:ext cx="160257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7329" y="3474720"/>
            <a:ext cx="160257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Sentinel rates every district 0–100 with days-to-surge</a:t>
            </a:r>
          </a:p>
        </p:txBody>
      </p:sp>
      <p:sp>
        <p:nvSpPr>
          <p:cNvPr id="22" name="Chevron 21"/>
          <p:cNvSpPr/>
          <p:nvPr/>
        </p:nvSpPr>
        <p:spPr>
          <a:xfrm>
            <a:off x="4896794" y="3278124"/>
            <a:ext cx="146304" cy="256032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8818" y="2148840"/>
            <a:ext cx="2014057" cy="25146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88818" y="2148840"/>
            <a:ext cx="2014057" cy="640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317418" y="2468880"/>
            <a:ext cx="384048" cy="384048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51016"/>
                </a:solidFill>
                <a:latin typeface="Helvetica Neu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7418" y="3017520"/>
            <a:ext cx="160257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7418" y="3474720"/>
            <a:ext cx="160257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Coordinator picks an intra-state donor, quantity, cost and deadline</a:t>
            </a:r>
          </a:p>
        </p:txBody>
      </p:sp>
      <p:sp>
        <p:nvSpPr>
          <p:cNvPr id="28" name="Chevron 27"/>
          <p:cNvSpPr/>
          <p:nvPr/>
        </p:nvSpPr>
        <p:spPr>
          <a:xfrm>
            <a:off x="7166884" y="3278124"/>
            <a:ext cx="146304" cy="256032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58908" y="2148840"/>
            <a:ext cx="2014057" cy="25146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358908" y="2148840"/>
            <a:ext cx="2014057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587508" y="2468880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51016"/>
                </a:solidFill>
                <a:latin typeface="Helvetica Neu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7508" y="3017520"/>
            <a:ext cx="160257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7508" y="3474720"/>
            <a:ext cx="160257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Reporter writes the CMO's WhatsApp in Marathi, Odia or Hindi</a:t>
            </a:r>
          </a:p>
        </p:txBody>
      </p:sp>
      <p:sp>
        <p:nvSpPr>
          <p:cNvPr id="34" name="Chevron 33"/>
          <p:cNvSpPr/>
          <p:nvPr/>
        </p:nvSpPr>
        <p:spPr>
          <a:xfrm>
            <a:off x="9436973" y="3278124"/>
            <a:ext cx="146304" cy="256032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28997" y="2148840"/>
            <a:ext cx="2014057" cy="25146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628997" y="2148840"/>
            <a:ext cx="2014057" cy="64008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857597" y="2468880"/>
            <a:ext cx="384048" cy="384048"/>
          </a:xfrm>
          <a:prstGeom prst="ellipse">
            <a:avLst/>
          </a:prstGeom>
          <a:solidFill>
            <a:srgbClr val="2EE6C5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51016"/>
                </a:solidFill>
                <a:latin typeface="Helvetica Neue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597" y="3017520"/>
            <a:ext cx="160257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597" y="3474720"/>
            <a:ext cx="160257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9C3C8"/>
                </a:solidFill>
                <a:latin typeface="Helvetica Neue"/>
              </a:rPr>
              <a:t>Approve → donor PHCs drain, receivers fill, impact KPIs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AND AROUND THE LOOP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67528"/>
            <a:ext cx="1184148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CMO Copilot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60804" y="5367528"/>
            <a:ext cx="1650492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48h cost-of-delay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9312" y="5367528"/>
            <a:ext cx="1650492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Leakage detection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17820" y="5367528"/>
            <a:ext cx="2660904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Weekly &amp; post-incident reports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06740" y="5367528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2019 backtesting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88152"/>
            <a:ext cx="2505456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English / हिंदी + read-aloud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82112" y="5788152"/>
            <a:ext cx="3049524" cy="310896"/>
          </a:xfrm>
          <a:prstGeom prst="roundRect">
            <a:avLst>
              <a:gd name="adj" fmla="val 50000"/>
            </a:avLst>
          </a:prstGeom>
          <a:solidFill>
            <a:srgbClr val="0E242D"/>
          </a:solidFill>
          <a:ln w="9525">
            <a:solidFill>
              <a:srgbClr val="A9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0">
                <a:solidFill>
                  <a:srgbClr val="A9C3C8"/>
                </a:solidFill>
                <a:latin typeface="Helvetica Neue"/>
              </a:rPr>
              <a:t>Map: India → state → district → PHC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04  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One screen. One decision. Stock moves.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Live on the public demo — Raigad district, Maharashtra, on a dengue + diarrhoea surge.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04 / 12</a:t>
            </a:r>
          </a:p>
        </p:txBody>
      </p:sp>
      <p:pic>
        <p:nvPicPr>
          <p:cNvPr id="11" name="Picture 10" descr="crop_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406640" cy="3703320"/>
          </a:xfrm>
          <a:prstGeom prst="roundRect">
            <a:avLst>
              <a:gd name="adj" fmla="val 2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12" name="Oval 11"/>
          <p:cNvSpPr/>
          <p:nvPr/>
        </p:nvSpPr>
        <p:spPr>
          <a:xfrm>
            <a:off x="463783" y="2541574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856232" y="3874770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966917" y="3578504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5966917" y="5244998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0" y="2011680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029968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Live impact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322576"/>
            <a:ext cx="2819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Stock-out days prevented, patients served, units moved, warnings, leakage.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2990088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008376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Drill-down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300984"/>
            <a:ext cx="2819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India → state → district → PHC pins, coloured by Sentinel risk.</a:t>
            </a:r>
          </a:p>
        </p:txBody>
      </p:sp>
      <p:sp>
        <p:nvSpPr>
          <p:cNvPr id="22" name="Oval 21"/>
          <p:cNvSpPr/>
          <p:nvPr/>
        </p:nvSpPr>
        <p:spPr>
          <a:xfrm>
            <a:off x="8321040" y="3968496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986784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Transfer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279392"/>
            <a:ext cx="2819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Nashik → Raigad · 2,400 ORS · ₹18,400 · deadline 3 days.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4946904"/>
            <a:ext cx="347472" cy="347472"/>
          </a:xfrm>
          <a:prstGeom prst="ellipse">
            <a:avLst/>
          </a:prstGeom>
          <a:solidFill>
            <a:srgbClr val="FF5C72"/>
          </a:solidFill>
          <a:ln>
            <a:noFill/>
          </a:ln>
          <a:effectLst>
            <a:outerShdw blurRad="152400" dist="381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2FBFA"/>
                </a:solidFill>
                <a:latin typeface="Helvetica Neu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965192"/>
            <a:ext cx="2819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2FBFA"/>
                </a:solidFill>
                <a:latin typeface="Helvetica Neue"/>
              </a:rPr>
              <a:t>One-tap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257800"/>
            <a:ext cx="2819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Approve, Modify or Escalate — with the WhatsApp preview; the real send is in Marathi.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EE6C5"/>
                </a:solidFill>
                <a:latin typeface="Helvetica Neue"/>
              </a:rPr>
              <a:t>On Approve  </a:t>
            </a:r>
            <a:r>
              <a:rPr sz="1200" b="0">
                <a:solidFill>
                  <a:srgbClr val="A9C3C8"/>
                </a:solidFill>
                <a:latin typeface="Helvetica Neue"/>
              </a:rPr>
              <a:t>donor PHCs drain highest-stock first, receivers fill lowest-stock first — a real inventory change, not a toast.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05   AI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Gemini reasons. Code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Five narrow agents on Google Gemini — with arithmetic kept in code and every output labelled.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05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6492240" cy="658368"/>
          </a:xfrm>
          <a:prstGeom prst="roundRect">
            <a:avLst>
              <a:gd name="adj" fmla="val 18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2340864"/>
            <a:ext cx="182880" cy="182880"/>
          </a:xfrm>
          <a:prstGeom prst="ellipse">
            <a:avLst/>
          </a:prstGeom>
          <a:solidFill>
            <a:srgbClr val="FF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0312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Fuses 4 signals into a district risk score, level and days-to-surge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9504"/>
            <a:ext cx="6492240" cy="658368"/>
          </a:xfrm>
          <a:prstGeom prst="roundRect">
            <a:avLst>
              <a:gd name="adj" fmla="val 18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77240" y="3127248"/>
            <a:ext cx="182880" cy="18288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89504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89504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Builds the transfer: donor, medicine, quantity, cost, urgency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75888"/>
            <a:ext cx="6492240" cy="658368"/>
          </a:xfrm>
          <a:prstGeom prst="roundRect">
            <a:avLst>
              <a:gd name="adj" fmla="val 18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77240" y="3913632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75888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Reporter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675888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Vernacular CMO WhatsApp + weekly and post-incident briefs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62272"/>
            <a:ext cx="6492240" cy="658368"/>
          </a:xfrm>
          <a:prstGeom prst="roundRect">
            <a:avLst>
              <a:gd name="adj" fmla="val 18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77240" y="4700016"/>
            <a:ext cx="182880" cy="182880"/>
          </a:xfrm>
          <a:prstGeom prst="ellipse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462272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Copilot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46227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Answers CMO questions from live risk, transfers and stock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48656"/>
            <a:ext cx="6492240" cy="658368"/>
          </a:xfrm>
          <a:prstGeom prst="roundRect">
            <a:avLst>
              <a:gd name="adj" fmla="val 18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77240" y="5486400"/>
            <a:ext cx="182880" cy="18288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48656"/>
            <a:ext cx="1645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248656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Flags PHCs whose dispensing outruns footfall; audit / notify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2103120"/>
            <a:ext cx="4327855" cy="8686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43800" y="2231136"/>
            <a:ext cx="38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EE6C5"/>
                </a:solidFill>
                <a:latin typeface="Helvetica Neue"/>
              </a:rPr>
              <a:t>Grounded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505456"/>
            <a:ext cx="3870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Copilot sees only the live board. It cannot invent a PHC or a transfer ID.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090672"/>
            <a:ext cx="4327855" cy="8686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43800" y="3218688"/>
            <a:ext cx="38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EE6C5"/>
                </a:solidFill>
                <a:latin typeface="Helvetica Neue"/>
              </a:rPr>
              <a:t>Deterministic numbers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493008"/>
            <a:ext cx="3870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Days of supply, PHCs hitting zero, uncovered visits and units moved are computed, not generated.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4078224"/>
            <a:ext cx="4327855" cy="86868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43800" y="4206240"/>
            <a:ext cx="38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2EE6C5"/>
                </a:solidFill>
                <a:latin typeface="Helvetica Neue"/>
              </a:rPr>
              <a:t>Transparent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480560"/>
            <a:ext cx="3870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Every score is tagged Gemini or MOCK. Flash-Lite first, Flash fallback, quota cooldown.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5065776"/>
            <a:ext cx="4327855" cy="941832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43800" y="5193792"/>
            <a:ext cx="38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2EE6C5"/>
                </a:solidFill>
                <a:latin typeface="Helvetica Neue"/>
              </a:rPr>
              <a:t>HUMAN-IN-THE-LOOP GUARDRAILS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5477256"/>
            <a:ext cx="1290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&lt;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724144"/>
            <a:ext cx="12902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4018" y="5477256"/>
            <a:ext cx="1290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100–1,000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4018" y="5724144"/>
            <a:ext cx="12902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CMO approves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24236" y="5477256"/>
            <a:ext cx="1290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&gt; 1,000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24236" y="5724144"/>
            <a:ext cx="12902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escalate to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06   AI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Ask it why. Ask what waiting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CMO Copilot and the 48-hour what-if — captured from the live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5CC8FF"/>
                </a:solidFill>
                <a:latin typeface="Helvetica Neue"/>
              </a:rPr>
              <a:t>CMO COPILOT</a:t>
            </a:r>
          </a:p>
        </p:txBody>
      </p:sp>
      <p:pic>
        <p:nvPicPr>
          <p:cNvPr id="12" name="Picture 11" descr="crop_co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7440"/>
            <a:ext cx="7818120" cy="1687832"/>
          </a:xfrm>
          <a:prstGeom prst="roundRect">
            <a:avLst>
              <a:gd name="adj" fmla="val 4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548640" y="4385312"/>
            <a:ext cx="2484120" cy="18288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77240" y="4385312"/>
            <a:ext cx="822960" cy="54864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4659632"/>
            <a:ext cx="2081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Answers in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98544"/>
            <a:ext cx="208178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“Why is Raigad at risk?” → risk 92, surge in 3 days — approve TXF_MH_001 and TXF_MH_002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5640" y="4385312"/>
            <a:ext cx="2484120" cy="18288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444240" y="4385312"/>
            <a:ext cx="822960" cy="54864"/>
          </a:xfrm>
          <a:prstGeom prst="rect">
            <a:avLst/>
          </a:prstGeom>
          <a:solidFill>
            <a:srgbClr val="FF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16808" y="4659632"/>
            <a:ext cx="2081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48h what-if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6808" y="5098544"/>
            <a:ext cx="208178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Projects each receiving PHC's days of cover if the CMO waits, names who hits zero, and writes the brief.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82640" y="4385312"/>
            <a:ext cx="2484120" cy="18288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111240" y="4385312"/>
            <a:ext cx="822960" cy="54864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3808" y="4659632"/>
            <a:ext cx="20817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In their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3808" y="5098544"/>
            <a:ext cx="208178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Every insight in English or हिंदी, with one-tap read-aloud.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057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5C72"/>
                </a:solidFill>
                <a:latin typeface="Helvetica Neue"/>
              </a:rPr>
              <a:t>IF DELAYED 48H</a:t>
            </a:r>
          </a:p>
        </p:txBody>
      </p:sp>
      <p:pic>
        <p:nvPicPr>
          <p:cNvPr id="26" name="Picture 25" descr="crop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77440"/>
            <a:ext cx="1721000" cy="3931920"/>
          </a:xfrm>
          <a:prstGeom prst="roundRect">
            <a:avLst>
              <a:gd name="adj" fmla="val 4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07   WHO IT SERVES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Built for the people who keep PHCs stocked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Decisions on the app they already use — WhatsApp — in the language they already speak.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07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2636443" cy="260604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04672" y="2395728"/>
            <a:ext cx="457200" cy="457200"/>
          </a:xfrm>
          <a:prstGeom prst="ellipse">
            <a:avLst/>
          </a:prstGeom>
          <a:solidFill>
            <a:srgbClr val="2EE6C5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2532888"/>
            <a:ext cx="182880" cy="18288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468880"/>
            <a:ext cx="16306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17520"/>
            <a:ext cx="21792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District CMO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39312"/>
            <a:ext cx="21792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Sees district risk, the cost of waiting, and a ready transfer. One tap: Approve, Modify or Escalate.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7963" y="2103120"/>
            <a:ext cx="2636443" cy="260604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23995" y="2395728"/>
            <a:ext cx="457200" cy="457200"/>
          </a:xfrm>
          <a:prstGeom prst="ellipse">
            <a:avLst/>
          </a:prstGeom>
          <a:solidFill>
            <a:srgbClr val="5CC8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1155" y="2532888"/>
            <a:ext cx="182880" cy="182880"/>
          </a:xfrm>
          <a:prstGeom prst="ellipse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6643" y="2468880"/>
            <a:ext cx="16306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5CC8FF"/>
                </a:solidFill>
                <a:latin typeface="Helvetica Neue"/>
              </a:rPr>
              <a:t>RECEIVES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3995" y="3017520"/>
            <a:ext cx="21792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PHC medical officer &amp; pharmacist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3995" y="3639312"/>
            <a:ext cx="21792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Stock arrives before the surge peaks. Pins show which PHC is at 2 days of cover.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103120"/>
            <a:ext cx="2636443" cy="260604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43319" y="2395728"/>
            <a:ext cx="457200" cy="457200"/>
          </a:xfrm>
          <a:prstGeom prst="ellipse">
            <a:avLst/>
          </a:prstGeom>
          <a:solidFill>
            <a:srgbClr val="FFB547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0479" y="2532888"/>
            <a:ext cx="182880" cy="18288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5967" y="2468880"/>
            <a:ext cx="16306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B547"/>
                </a:solidFill>
                <a:latin typeface="Helvetica Neue"/>
              </a:rPr>
              <a:t>AUDITS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319" y="3017520"/>
            <a:ext cx="21792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Block / district health officer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3319" y="3639312"/>
            <a:ext cx="21792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Leakage flags turn ‘busy OPD’ into a scheduled audit or notification.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611" y="2103120"/>
            <a:ext cx="2636443" cy="260604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262643" y="2395728"/>
            <a:ext cx="457200" cy="457200"/>
          </a:xfrm>
          <a:prstGeom prst="ellipse">
            <a:avLst/>
          </a:prstGeom>
          <a:solidFill>
            <a:srgbClr val="A78BF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99803" y="2532888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291" y="2468880"/>
            <a:ext cx="163060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OVERSEES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643" y="3017520"/>
            <a:ext cx="217924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BFA"/>
                </a:solidFill>
                <a:latin typeface="Helvetica Neue"/>
              </a:rPr>
              <a:t>State health secretariat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643" y="3639312"/>
            <a:ext cx="21792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Large moves (&gt; 1,000 units) escalate to the state; one view across districts.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513892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AND ULTIMATELY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13248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2FBFA"/>
                </a:solidFill>
                <a:latin typeface="Helvetica Neue"/>
              </a:rPr>
              <a:t>The rural patient who finds ORS on the shelf — and the ASHA worker whose WhatsApp update Copilot drafts.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212080"/>
            <a:ext cx="10591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मराठी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715000"/>
            <a:ext cx="1059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Maharashtra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423" y="5212080"/>
            <a:ext cx="10591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ଓଡ଼ିଆ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423" y="5715000"/>
            <a:ext cx="1059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Odisha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0527" y="5212080"/>
            <a:ext cx="10591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हिंदी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0527" y="5715000"/>
            <a:ext cx="1059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Rajasthan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9631" y="5212080"/>
            <a:ext cx="10591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English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9631" y="5715000"/>
            <a:ext cx="1059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A9C3C8"/>
                </a:solidFill>
                <a:latin typeface="Helvetica Neue"/>
              </a:rPr>
              <a:t>All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08   LIVE ACROSS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Three states live. One engine.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Same agents, three outbreaks, three languages — intra-state donors first, inter-state as fallback.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08 / 12</a:t>
            </a:r>
          </a:p>
        </p:txBody>
      </p:sp>
      <p:pic>
        <p:nvPicPr>
          <p:cNvPr id="11" name="Picture 10" descr="crop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760720" cy="2520315"/>
          </a:xfrm>
          <a:prstGeom prst="roundRect">
            <a:avLst>
              <a:gd name="adj" fmla="val 3000"/>
            </a:avLst>
          </a:prstGeom>
          <a:ln w="12700">
            <a:solidFill>
              <a:srgbClr val="1F4652"/>
            </a:solidFill>
          </a:ln>
          <a:effectLst>
            <a:outerShdw blurRad="508000" dist="127000" dir="5400000" algn="t" rotWithShape="0">
              <a:srgbClr val="000000">
                <a:alpha val="55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548640" y="4806315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12 states on the national map · 3 fully operational · 9 ready to onboard with a district list and language pack.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103120"/>
            <a:ext cx="5013655" cy="1225296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0" y="2267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MAHARASHTRA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2FBFA"/>
                </a:solidFill>
                <a:latin typeface="Helvetica Neue"/>
              </a:rPr>
              <a:t>Raigad</a:t>
            </a:r>
            <a:r>
              <a:rPr sz="1300" b="0">
                <a:solidFill>
                  <a:srgbClr val="A9C3C8"/>
                </a:solidFill>
                <a:latin typeface="Helvetica Neue"/>
              </a:rPr>
              <a:t>  ·  Dengue + diarrhoea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07792"/>
            <a:ext cx="3550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Nashik → Raigad · 2,400 ORS + 500 iron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2231136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F5C72"/>
                </a:solidFill>
                <a:latin typeface="Helvetica Neue"/>
              </a:rPr>
              <a:t>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27614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5C72"/>
                </a:solidFill>
                <a:latin typeface="Helvetica Neue"/>
              </a:rP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29718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मराठी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474720"/>
            <a:ext cx="5013655" cy="1225296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0" y="3639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ODISHA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2FBFA"/>
                </a:solidFill>
                <a:latin typeface="Helvetica Neue"/>
              </a:rPr>
              <a:t>Puri</a:t>
            </a:r>
            <a:r>
              <a:rPr sz="1300" b="0">
                <a:solidFill>
                  <a:srgbClr val="A9C3C8"/>
                </a:solidFill>
                <a:latin typeface="Helvetica Neue"/>
              </a:rPr>
              <a:t>  ·  Flood diarrhoea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79392"/>
            <a:ext cx="3550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Cuttack → Puri · 1,150 ORS + 500 IV fluids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3602736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F5C72"/>
                </a:solidFill>
                <a:latin typeface="Helvetica Neue"/>
              </a:rPr>
              <a:t>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41330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5C72"/>
                </a:solidFill>
                <a:latin typeface="Helvetica Neue"/>
              </a:rPr>
              <a:t>CRITICAL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43434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ଓଡ଼ିଆ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846320"/>
            <a:ext cx="5013655" cy="1225296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0" y="5010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RAJASTHAN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257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2FBFA"/>
                </a:solidFill>
                <a:latin typeface="Helvetica Neue"/>
              </a:rPr>
              <a:t>Barmer</a:t>
            </a:r>
            <a:r>
              <a:rPr sz="1300" b="0">
                <a:solidFill>
                  <a:srgbClr val="A9C3C8"/>
                </a:solidFill>
                <a:latin typeface="Helvetica Neue"/>
              </a:rPr>
              <a:t>  ·  Malaria + heat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50992"/>
            <a:ext cx="35506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Jodhpur → Barmer · 900 Artemisinin + 1,600 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4974336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F5C72"/>
                </a:solidFill>
                <a:latin typeface="Helvetica Neue"/>
              </a:rPr>
              <a:t>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550468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FF5C72"/>
                </a:solidFill>
                <a:latin typeface="Helvetica Neue"/>
              </a:rPr>
              <a:t>CRITICAL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57150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हिंदी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09  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Impact on the board — and in hindsight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Live demo counters today, plus a modelled replay of the 2019 Raigad dengue season.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ON THE LIVE 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31720"/>
            <a:ext cx="2072579" cy="141732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822960" cy="54864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2EE6C5"/>
                </a:solidFill>
                <a:latin typeface="Helvetica Neue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16153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stock-out days prevented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4099" y="2331720"/>
            <a:ext cx="2072579" cy="141732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032699" y="2331720"/>
            <a:ext cx="822960" cy="54864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32699" y="25603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5CC8FF"/>
                </a:solidFill>
                <a:latin typeface="Helvetica Neue"/>
              </a:rPr>
              <a:t>460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2699" y="3200400"/>
            <a:ext cx="16153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patients served without a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59558" y="2331720"/>
            <a:ext cx="2072579" cy="141732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288158" y="2331720"/>
            <a:ext cx="8229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88158" y="25603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A78BFA"/>
                </a:solidFill>
                <a:latin typeface="Helvetica Neue"/>
              </a:rPr>
              <a:t>1,430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8158" y="3200400"/>
            <a:ext cx="16153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units redistributed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017" y="2331720"/>
            <a:ext cx="2072579" cy="141732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43617" y="2331720"/>
            <a:ext cx="822960" cy="54864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43617" y="25603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FFB547"/>
                </a:solidFill>
                <a:latin typeface="Helvetica Neue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617" y="3200400"/>
            <a:ext cx="16153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early warnings issued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0476" y="2331720"/>
            <a:ext cx="2072579" cy="141732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799076" y="2331720"/>
            <a:ext cx="822960" cy="54864"/>
          </a:xfrm>
          <a:prstGeom prst="rect">
            <a:avLst/>
          </a:prstGeom>
          <a:solidFill>
            <a:srgbClr val="FF5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799076" y="2560320"/>
            <a:ext cx="16153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>
                <a:solidFill>
                  <a:srgbClr val="FF5C72"/>
                </a:solidFill>
                <a:latin typeface="Helvetica Neue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076" y="3200400"/>
            <a:ext cx="16153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A9C3C8"/>
                </a:solidFill>
                <a:latin typeface="Helvetica Neue"/>
              </a:rPr>
              <a:t>leakage incidents flagged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23360"/>
            <a:ext cx="11094415" cy="205740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8680" y="4251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2019 RAIGAD DENGUE — MODELLED BACKTEST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663440"/>
            <a:ext cx="23392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2EE6C5"/>
                </a:solidFill>
                <a:latin typeface="Helvetica Neue"/>
              </a:rPr>
              <a:t>16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94960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earlier warning than the actual stock-out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2263" y="4663440"/>
            <a:ext cx="23392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5C72"/>
                </a:solidFill>
                <a:latin typeface="Helvetica Neue"/>
              </a:rPr>
              <a:t>14,200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82263" y="5394960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patients hit by the 9-day historical stock-out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5847" y="4663440"/>
            <a:ext cx="23392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FB547"/>
                </a:solidFill>
                <a:latin typeface="Helvetica Neue"/>
              </a:rPr>
              <a:t>₹1.85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5394960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cost of inaction — vs ₹2.15 lakh to pre-position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9431" y="4663440"/>
            <a:ext cx="23392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>
                <a:solidFill>
                  <a:srgbClr val="F2FBFA"/>
                </a:solidFill>
                <a:latin typeface="Helvetica Neue"/>
              </a:rPr>
              <a:t>~86×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9431" y="5394960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A9C3C8"/>
                </a:solidFill>
                <a:latin typeface="Helvetica Neue"/>
              </a:rPr>
              <a:t>return on acting early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245352"/>
            <a:ext cx="11094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C8A91"/>
                </a:solidFill>
                <a:latin typeface="Helvetica Neue"/>
              </a:rPr>
              <a:t>Backtest is a labelled counterfactual (Reports → Backtesting) built on illustrative IDSP-style data, not a claim PULSE ran in 2019.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10   WHY IT'S DEPLOYABLE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Deployable today, not a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A running public service with production guardrails — open it any time, no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10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6309360" cy="41148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34640"/>
            <a:ext cx="1691640" cy="1097280"/>
          </a:xfrm>
          <a:prstGeom prst="roundRect">
            <a:avLst>
              <a:gd name="adj" fmla="val 14000"/>
            </a:avLst>
          </a:prstGeom>
          <a:solidFill>
            <a:srgbClr val="122F3A"/>
          </a:solidFill>
          <a:ln w="15875">
            <a:solidFill>
              <a:srgbClr val="5C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29626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36976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A9C3C8"/>
                </a:solidFill>
                <a:latin typeface="Helvetica Neue"/>
              </a:rPr>
              <a:t>Open-Meteo · trends · IDSP-style cases · PHC stock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87752" y="3273552"/>
            <a:ext cx="274320" cy="219456"/>
          </a:xfrm>
          <a:prstGeom prst="rightArrow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35224" y="2834640"/>
            <a:ext cx="1691640" cy="1097280"/>
          </a:xfrm>
          <a:prstGeom prst="roundRect">
            <a:avLst>
              <a:gd name="adj" fmla="val 14000"/>
            </a:avLst>
          </a:prstGeom>
          <a:solidFill>
            <a:srgbClr val="122F3A"/>
          </a:solidFill>
          <a:ln w="15875">
            <a:solidFill>
              <a:srgbClr val="2E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935224" y="29626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Flask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3236976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A9C3C8"/>
                </a:solidFill>
                <a:latin typeface="Helvetica Neue"/>
              </a:rPr>
              <a:t>5 agents · SQLite · stock math · gunicorn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00016" y="3273552"/>
            <a:ext cx="274320" cy="219456"/>
          </a:xfrm>
          <a:prstGeom prst="rightArrow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47488" y="2834640"/>
            <a:ext cx="1691640" cy="1097280"/>
          </a:xfrm>
          <a:prstGeom prst="roundRect">
            <a:avLst>
              <a:gd name="adj" fmla="val 14000"/>
            </a:avLst>
          </a:prstGeom>
          <a:solidFill>
            <a:srgbClr val="122F3A"/>
          </a:solidFill>
          <a:ln w="1587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47488" y="29626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Google 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236976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A9C3C8"/>
                </a:solidFill>
                <a:latin typeface="Helvetica Neue"/>
              </a:rPr>
              <a:t>Flash-Lite → Flash ladder · labelled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671316" y="4005072"/>
            <a:ext cx="219456" cy="320040"/>
          </a:xfrm>
          <a:prstGeom prst="downArrow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2651760" cy="1097280"/>
          </a:xfrm>
          <a:prstGeom prst="roundRect">
            <a:avLst>
              <a:gd name="adj" fmla="val 14000"/>
            </a:avLst>
          </a:prstGeom>
          <a:solidFill>
            <a:srgbClr val="122F3A"/>
          </a:solidFill>
          <a:ln w="15875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62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Next.js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3717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A9C3C8"/>
                </a:solidFill>
                <a:latin typeface="Helvetica Neue"/>
              </a:rPr>
              <a:t>Map · transfers · Copilot · reports · EN / हिं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434840"/>
            <a:ext cx="2651760" cy="1097280"/>
          </a:xfrm>
          <a:prstGeom prst="roundRect">
            <a:avLst>
              <a:gd name="adj" fmla="val 14000"/>
            </a:avLst>
          </a:prstGeom>
          <a:solidFill>
            <a:srgbClr val="122F3A"/>
          </a:solidFill>
          <a:ln w="15875">
            <a:solidFill>
              <a:srgbClr val="FF5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840480" y="4562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WhatsApp Cloud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83717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A9C3C8"/>
                </a:solidFill>
                <a:latin typeface="Helvetica Neue"/>
              </a:rPr>
              <a:t>Vernacular CMO alerts · console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C8A91"/>
                </a:solidFill>
                <a:latin typeface="Helvetica Neue"/>
              </a:rPr>
              <a:t>Hosted on Render: pulse-web + pulse-api, one render.yaml.</a:t>
            </a:r>
          </a:p>
        </p:txBody>
      </p:sp>
      <p:sp>
        <p:nvSpPr>
          <p:cNvPr id="32" name="Oval 31"/>
          <p:cNvSpPr/>
          <p:nvPr/>
        </p:nvSpPr>
        <p:spPr>
          <a:xfrm>
            <a:off x="7132320" y="21396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21396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1031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Live public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23774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pulse-web-ahao.onrender.com — open it any time.</a:t>
            </a:r>
          </a:p>
        </p:txBody>
      </p:sp>
      <p:sp>
        <p:nvSpPr>
          <p:cNvPr id="36" name="Oval 35"/>
          <p:cNvSpPr/>
          <p:nvPr/>
        </p:nvSpPr>
        <p:spPr>
          <a:xfrm>
            <a:off x="7132320" y="28254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2825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27889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Seeded, story-ready 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0632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Corridors, transfers and KPIs ready — no setup.</a:t>
            </a:r>
          </a:p>
        </p:txBody>
      </p:sp>
      <p:sp>
        <p:nvSpPr>
          <p:cNvPr id="40" name="Oval 39"/>
          <p:cNvSpPr/>
          <p:nvPr/>
        </p:nvSpPr>
        <p:spPr>
          <a:xfrm>
            <a:off x="7132320" y="35112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4747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Secrets stay server-side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7490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Gemini key on the API; never in the browser.</a:t>
            </a:r>
          </a:p>
        </p:txBody>
      </p:sp>
      <p:sp>
        <p:nvSpPr>
          <p:cNvPr id="44" name="Oval 43"/>
          <p:cNvSpPr/>
          <p:nvPr/>
        </p:nvSpPr>
        <p:spPr>
          <a:xfrm>
            <a:off x="7132320" y="41970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4197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1605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Fails soft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4348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Rate-limited? Labelled MOCK keeps the loop alive.</a:t>
            </a:r>
          </a:p>
        </p:txBody>
      </p:sp>
      <p:sp>
        <p:nvSpPr>
          <p:cNvPr id="48" name="Oval 47"/>
          <p:cNvSpPr/>
          <p:nvPr/>
        </p:nvSpPr>
        <p:spPr>
          <a:xfrm>
            <a:off x="7132320" y="48828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48828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8463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Real persistence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51206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Approvals, stock moves and audits in SQLite.</a:t>
            </a:r>
          </a:p>
        </p:txBody>
      </p:sp>
      <p:sp>
        <p:nvSpPr>
          <p:cNvPr id="52" name="Oval 51"/>
          <p:cNvSpPr/>
          <p:nvPr/>
        </p:nvSpPr>
        <p:spPr>
          <a:xfrm>
            <a:off x="7132320" y="5568696"/>
            <a:ext cx="274320" cy="274320"/>
          </a:xfrm>
          <a:prstGeom prst="ellipse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55686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51016"/>
                </a:solidFill>
                <a:latin typeface="Helvetica Neue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532120"/>
            <a:ext cx="4099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Open 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5806440"/>
            <a:ext cx="4099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Code, architecture and runbook on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11   HOW IT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From 3 states to every district 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A new state is configuration, not a rewrite: a district list, a donor map and a language pack.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11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3545738" cy="64008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82112"/>
            <a:ext cx="299709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2EE6C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3 operational states, 12 districts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2EE6C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Sample PHCs, IDSP-style baselines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2EE6C5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Marathi · Odia · Hindi · English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4140098" y="3108960"/>
            <a:ext cx="137160" cy="274320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22978" y="210312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22978" y="2103120"/>
            <a:ext cx="3545738" cy="64008"/>
          </a:xfrm>
          <a:prstGeom prst="rect">
            <a:avLst/>
          </a:prstGeom>
          <a:solidFill>
            <a:srgbClr val="5C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97298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5CC8FF"/>
                </a:solidFill>
                <a:latin typeface="Helvetica Neue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2633472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State rollout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298" y="3182112"/>
            <a:ext cx="299709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5CC8FF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Adapters for state HMIS / drug-store stock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5CC8FF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IDSP-IHIP case feed, Postgres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5CC8FF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WhatsApp Business number per district</a:t>
            </a:r>
          </a:p>
        </p:txBody>
      </p:sp>
      <p:sp>
        <p:nvSpPr>
          <p:cNvPr id="22" name="Chevron 21"/>
          <p:cNvSpPr/>
          <p:nvPr/>
        </p:nvSpPr>
        <p:spPr>
          <a:xfrm>
            <a:off x="7914436" y="3108960"/>
            <a:ext cx="137160" cy="274320"/>
          </a:xfrm>
          <a:prstGeom prst="chevron">
            <a:avLst/>
          </a:prstGeom>
          <a:solidFill>
            <a:srgbClr val="6C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7316" y="210312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0E242D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97316" y="2103120"/>
            <a:ext cx="354573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71636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A78BFA"/>
                </a:solidFill>
                <a:latin typeface="Helvetica Neue"/>
              </a:rPr>
              <a:t>THEN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2633472"/>
            <a:ext cx="29970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2FBFA"/>
                </a:solidFill>
                <a:latin typeface="Helvetica Neue"/>
              </a:rPr>
              <a:t>National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3182112"/>
            <a:ext cx="299709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A78BFA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All ~780 districts, ~25,000 PHCs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A78BFA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Inter-state fallback via central stores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A78BFA"/>
                </a:solidFill>
                <a:latin typeface="Helvetica Neue"/>
              </a:rPr>
              <a:t>•  </a:t>
            </a:r>
            <a:r>
              <a:rPr sz="1250" b="0">
                <a:solidFill>
                  <a:srgbClr val="A9C3C8"/>
                </a:solidFill>
                <a:latin typeface="Helvetica Neue"/>
              </a:rPr>
              <a:t>22 scheduled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WHY IT SCALES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83480"/>
            <a:ext cx="2636443" cy="114300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7240" y="5148072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Config, not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58968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States, donors and languages are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7963" y="4983480"/>
            <a:ext cx="2636443" cy="114300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96563" y="5148072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Cheap per district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6563" y="5458968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Flash-Lite first; code does the math.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4983480"/>
            <a:ext cx="2636443" cy="114300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5887" y="5148072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Guardrails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887" y="5458968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Autonomy bands grow with quantity.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611" y="4983480"/>
            <a:ext cx="2636443" cy="1143000"/>
          </a:xfrm>
          <a:prstGeom prst="roundRect">
            <a:avLst>
              <a:gd name="adj" fmla="val 6000"/>
            </a:avLst>
          </a:prstGeom>
          <a:solidFill>
            <a:srgbClr val="122F3A"/>
          </a:solidFill>
          <a:ln w="9525">
            <a:solidFill>
              <a:srgbClr val="1F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35211" y="5148072"/>
            <a:ext cx="2179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2FBFA"/>
                </a:solidFill>
                <a:latin typeface="Helvetica Neue"/>
              </a:rPr>
              <a:t>Zero new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211" y="5458968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A9C3C8"/>
                </a:solidFill>
                <a:latin typeface="Helvetica Neue"/>
              </a:rPr>
              <a:t>CMOs act from WhatsApp they already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1016"/>
              </a:gs>
              <a:gs pos="100000">
                <a:srgbClr val="0A2A33"/>
              </a:gs>
            </a:gsLst>
            <a:lin scaled="0" ang="19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solidFill>
            <a:srgbClr val="2EE6C5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solidFill>
            <a:srgbClr val="5CC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329184" cy="45720"/>
          </a:xfrm>
          <a:prstGeom prst="rect">
            <a:avLst/>
          </a:prstGeom>
          <a:solidFill>
            <a:srgbClr val="2EE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EE6C5"/>
                </a:solidFill>
                <a:latin typeface="Helvetica Neue"/>
              </a:rPr>
              <a:t>12   WHY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2FBFA"/>
                </a:solidFill>
                <a:latin typeface="Helvetica Neue"/>
              </a:rPr>
              <a:t>Why PULSE wins Track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9C3C8"/>
                </a:solidFill>
                <a:latin typeface="Helvetica Neue"/>
              </a:rPr>
              <a:t>Most health AI stops at a prediction. PULSE finishes the supply-chain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9C3C8"/>
                </a:solidFill>
                <a:latin typeface="Helvetica Neue"/>
              </a:rPr>
              <a:t>PULSE</a:t>
            </a:r>
            <a:r>
              <a:rPr sz="1000" b="0">
                <a:solidFill>
                  <a:srgbClr val="6C8A91"/>
                </a:solidFill>
                <a:latin typeface="Helvetica Neue"/>
              </a:rPr>
              <a:t>   ·   AICoders   ·   Code for Community — Track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6C8A91"/>
                </a:solidFill>
                <a:latin typeface="Helvetica Neue"/>
              </a:rPr>
              <a:t>12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0320" y="2011680"/>
            <a:ext cx="1127760" cy="4187952"/>
          </a:xfrm>
          <a:prstGeom prst="roundRect">
            <a:avLst>
              <a:gd name="adj" fmla="val 8000"/>
            </a:avLst>
          </a:prstGeom>
          <a:solidFill>
            <a:srgbClr val="14B8A6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114800" y="205740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A9C3C8"/>
                </a:solidFill>
                <a:latin typeface="Helvetica Neue"/>
              </a:rPr>
              <a:t>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560" y="205740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A9C3C8"/>
                </a:solidFill>
                <a:latin typeface="Helvetica Neue"/>
              </a:rPr>
              <a:t>Chatbots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320" y="205740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2EE6C5"/>
                </a:solidFill>
                <a:latin typeface="Helvetica Neue"/>
              </a:rPr>
              <a:t>PULSE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9464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2569464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Forecasts district surge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6946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A9C3C8"/>
                </a:solidFill>
                <a:latin typeface="Helvetica Neue"/>
              </a:rPr>
              <a:t>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2560" y="256946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20" y="256946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81528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3081528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Plans intra-state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08152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2560" y="308152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320" y="308152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93592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593592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CMO alert in local 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593592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2560" y="3593592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A9C3C8"/>
                </a:solidFill>
                <a:latin typeface="Helvetica Neue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20" y="3593592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05656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4105656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Approve actually moves stock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05656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2560" y="4105656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320" y="4105656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17720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Leakage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61772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42560" y="461772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0320" y="4617720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29784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5129784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Cost-of-delay what-if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12978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42560" y="512978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320" y="5129784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641848"/>
            <a:ext cx="6949440" cy="9525"/>
          </a:xfrm>
          <a:prstGeom prst="rect">
            <a:avLst/>
          </a:prstGeom>
          <a:solidFill>
            <a:srgbClr val="1F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5641848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>
                <a:solidFill>
                  <a:srgbClr val="F2FBFA"/>
                </a:solidFill>
                <a:latin typeface="Helvetica Neue"/>
              </a:rPr>
              <a:t>Grounded, labelled AI 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64184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6C8A91"/>
                </a:solidFill>
                <a:latin typeface="Helvetica Neue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2560" y="564184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A9C3C8"/>
                </a:solidFill>
                <a:latin typeface="Helvetica Neue"/>
              </a:rPr>
              <a:t>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320" y="5641848"/>
            <a:ext cx="11277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2EE6C5"/>
                </a:solidFill>
                <a:latin typeface="Helvetica Neue"/>
              </a:rP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9560" y="2011680"/>
            <a:ext cx="3733495" cy="4206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B8A6"/>
              </a:gs>
              <a:gs pos="100000">
                <a:srgbClr val="0B5E6B"/>
              </a:gs>
            </a:gsLst>
            <a:lin scaled="0" ang="18900000"/>
          </a:gradFill>
          <a:ln>
            <a:noFill/>
          </a:ln>
          <a:effectLst>
            <a:outerShdw blurRad="508000" dist="1270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2286000"/>
            <a:ext cx="3001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51016"/>
                </a:solidFill>
                <a:latin typeface="Helvetica Neue"/>
              </a:rPr>
              <a:t>THE ASK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2606040"/>
            <a:ext cx="30019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2FBFA"/>
                </a:solidFill>
                <a:latin typeface="Helvetica Neue"/>
              </a:rPr>
              <a:t>Open the board. Approve a transfer. Watch the stock move.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4114800"/>
            <a:ext cx="3001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F2FBFA"/>
                </a:solidFill>
                <a:latin typeface="Helvetica Neue"/>
              </a:rPr>
              <a:t>pulse-web-ahao.onrender.com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F2FBFA"/>
                </a:solidFill>
                <a:latin typeface="Helvetica Neue"/>
              </a:rPr>
              <a:t>github.com/parthgoyal15/PULSE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20" y="4983480"/>
            <a:ext cx="3001975" cy="12700"/>
          </a:xfrm>
          <a:prstGeom prst="rect">
            <a:avLst/>
          </a:prstGeom>
          <a:solidFill>
            <a:srgbClr val="F2FBF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275320" y="5138928"/>
            <a:ext cx="3001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2FBFA"/>
                </a:solidFill>
                <a:latin typeface="Helvetica Neue"/>
              </a:rPr>
              <a:t>Thank you — presented by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394960"/>
            <a:ext cx="3001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>
                <a:solidFill>
                  <a:srgbClr val="F2FBFA"/>
                </a:solidFill>
                <a:latin typeface="Helvetica Neue"/>
              </a:rPr>
              <a:t>AICoders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